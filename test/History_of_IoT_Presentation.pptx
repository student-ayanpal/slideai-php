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70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i bal" userId="e52f55c3f906a103" providerId="LiveId" clId="{F5D6AE9C-DA00-41E4-AEE4-742472E35B89}"/>
    <pc:docChg chg="delSld">
      <pc:chgData name="aditi bal" userId="e52f55c3f906a103" providerId="LiveId" clId="{F5D6AE9C-DA00-41E4-AEE4-742472E35B89}" dt="2026-08-09T14:40:29.924" v="0" actId="47"/>
      <pc:docMkLst>
        <pc:docMk/>
      </pc:docMkLst>
      <pc:sldChg chg="del">
        <pc:chgData name="aditi bal" userId="e52f55c3f906a103" providerId="LiveId" clId="{F5D6AE9C-DA00-41E4-AEE4-742472E35B89}" dt="2026-08-09T14:40:29.924" v="0" actId="4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Internet of Things (IoT)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From early connected machines to AI-powered smart systems</a:t>
            </a:r>
          </a:p>
          <a:p>
            <a:r>
              <a:rPr dirty="0"/>
              <a:t>A brief timeline of the evolution of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Internet of Things (IoT) connects physical objects to the internet.</a:t>
            </a:r>
          </a:p>
          <a:p>
            <a:pPr>
              <a:spcAft>
                <a:spcPts val="1200"/>
              </a:spcAft>
              <a:defRPr sz="2400"/>
            </a:pPr>
            <a:r>
              <a:t>Devices use sensors, software, and communication networks to collect and exchange data.</a:t>
            </a:r>
          </a:p>
          <a:p>
            <a:pPr>
              <a:spcAft>
                <a:spcPts val="1200"/>
              </a:spcAft>
              <a:defRPr sz="2400"/>
            </a:pPr>
            <a:r>
              <a:t>Examples: smart homes, wearables, connected vehicles, healthcare and smart agriculture.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1982 – First Internet-Connected Vending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A Coca-Cola vending machine at Carnegie Mellon University was connected to the internet.</a:t>
            </a:r>
          </a:p>
          <a:p>
            <a:pPr>
              <a:spcAft>
                <a:spcPts val="1200"/>
              </a:spcAft>
              <a:defRPr sz="2400"/>
            </a:pPr>
            <a:r>
              <a:t>It could report whether drinks were available and whether they were cold.</a:t>
            </a:r>
          </a:p>
          <a:p>
            <a:pPr>
              <a:spcAft>
                <a:spcPts val="1200"/>
              </a:spcAft>
              <a:defRPr sz="2400"/>
            </a:pPr>
            <a:r>
              <a:t>This is widely regarded as one of the earliest practical examples of an Internet-connected object.</a:t>
            </a:r>
          </a:p>
          <a:p>
            <a:pPr>
              <a:spcAft>
                <a:spcPts val="1200"/>
              </a:spcAft>
              <a:defRPr sz="2400"/>
            </a:pPr>
            <a:r>
              <a:t>Key idea: a physical object could provide information through a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1990 – Internet-Connected Toaster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John Romkey demonstrated an internet-controlled toaster.</a:t>
            </a:r>
          </a:p>
          <a:p>
            <a:pPr>
              <a:spcAft>
                <a:spcPts val="1200"/>
              </a:spcAft>
              <a:defRPr sz="2400"/>
            </a:pPr>
            <a:r>
              <a:t>The demonstration showed that an ordinary household appliance could be controlled through a network.</a:t>
            </a:r>
          </a:p>
          <a:p>
            <a:pPr>
              <a:spcAft>
                <a:spcPts val="1200"/>
              </a:spcAft>
              <a:defRPr sz="2400"/>
            </a:pPr>
            <a:r>
              <a:t>Key idea: connectivity could move beyond computers to everyday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1999 – The Term 'Internet of Things'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rPr dirty="0"/>
              <a:t>Kevin Ashton coined the term 'Internet of Things' while working at Procter &amp; Gamble.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He emphasized using RFID and sensors to allow computers to collect information directly from physical objects.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This helped establish the vision of a world where objects could be identified and tracked digitally.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2000–2010 – Foundations of Modern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Wireless communication became more affordable and widely available.</a:t>
            </a:r>
          </a:p>
          <a:p>
            <a:pPr>
              <a:spcAft>
                <a:spcPts val="1200"/>
              </a:spcAft>
              <a:defRPr sz="2400"/>
            </a:pPr>
            <a:r>
              <a:t>Sensors, RFID, embedded systems and microcontrollers improved.</a:t>
            </a:r>
          </a:p>
          <a:p>
            <a:pPr>
              <a:spcAft>
                <a:spcPts val="1200"/>
              </a:spcAft>
              <a:defRPr sz="2400"/>
            </a:pPr>
            <a:r>
              <a:t>Cloud computing enabled large-scale data storage and processing.</a:t>
            </a:r>
          </a:p>
          <a:p>
            <a:pPr>
              <a:spcAft>
                <a:spcPts val="1200"/>
              </a:spcAft>
              <a:defRPr sz="2400"/>
            </a:pPr>
            <a:r>
              <a:t>Early applications appeared in smart homes, industry and healthcare.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CD87-0B31-7FE6-92A8-67BA6054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World Summit on the Information Society (WSIS), 2005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E4E8-1C09-2037-5BDB-14ABEF14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 concept of the </a:t>
            </a:r>
            <a:r>
              <a:rPr lang="en-IN" b="1" dirty="0"/>
              <a:t>Internet of Things (IoT)</a:t>
            </a:r>
            <a:r>
              <a:rPr lang="en-IN" dirty="0"/>
              <a:t> was discussed in the context of connecting physical objects to the digital world. Four important technologies commonly associated with enabling IoT are:</a:t>
            </a:r>
          </a:p>
          <a:p>
            <a:r>
              <a:rPr lang="en-IN" dirty="0"/>
              <a:t>Radio Frequency Identification(RFID)</a:t>
            </a:r>
          </a:p>
          <a:p>
            <a:r>
              <a:rPr lang="en-IN" dirty="0"/>
              <a:t>Wireless Sensor Network(WSN)</a:t>
            </a:r>
          </a:p>
          <a:p>
            <a:r>
              <a:rPr lang="en-IN" dirty="0"/>
              <a:t>Embedded System</a:t>
            </a:r>
          </a:p>
          <a:p>
            <a:r>
              <a:rPr lang="en-IN" dirty="0"/>
              <a:t>Nanotechnology</a:t>
            </a:r>
          </a:p>
        </p:txBody>
      </p:sp>
    </p:spTree>
    <p:extLst>
      <p:ext uri="{BB962C8B-B14F-4D97-AF65-F5344CB8AC3E}">
        <p14:creationId xmlns:p14="http://schemas.microsoft.com/office/powerpoint/2010/main" val="287818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2011–2015 – Rapid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Smartphones and mobile networks accelerated IoT adoption.</a:t>
            </a:r>
          </a:p>
          <a:p>
            <a:pPr>
              <a:spcAft>
                <a:spcPts val="1200"/>
              </a:spcAft>
              <a:defRPr sz="2400"/>
            </a:pPr>
            <a:r>
              <a:t>Wearables, smart thermostats and connected vehicles became increasingly common.</a:t>
            </a:r>
          </a:p>
          <a:p>
            <a:pPr>
              <a:spcAft>
                <a:spcPts val="1200"/>
              </a:spcAft>
              <a:defRPr sz="2400"/>
            </a:pPr>
            <a:r>
              <a:t>Cloud platforms made it easier to collect and analyze data from many devices.</a:t>
            </a:r>
          </a:p>
          <a:p>
            <a:pPr>
              <a:spcAft>
                <a:spcPts val="1200"/>
              </a:spcAft>
              <a:defRPr sz="2400"/>
            </a:pPr>
            <a:r>
              <a:t>IoT shifted from experiments toward consumer and industrial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2016–Present – Modern IoT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IoT has expanded into smart cities, healthcare, agriculture, manufacturing and transportation.</a:t>
            </a:r>
          </a:p>
          <a:p>
            <a:pPr>
              <a:spcAft>
                <a:spcPts val="1200"/>
              </a:spcAft>
              <a:defRPr sz="2400"/>
            </a:pPr>
            <a:r>
              <a:t>5G provides faster connectivity and supports large numbers of connected devices.</a:t>
            </a:r>
          </a:p>
          <a:p>
            <a:pPr>
              <a:spcAft>
                <a:spcPts val="1200"/>
              </a:spcAft>
              <a:defRPr sz="2400"/>
            </a:pPr>
            <a:r>
              <a:t>Edge computing enables data processing closer to devices.</a:t>
            </a:r>
          </a:p>
          <a:p>
            <a:pPr>
              <a:spcAft>
                <a:spcPts val="1200"/>
              </a:spcAft>
              <a:defRPr sz="2400"/>
            </a:pPr>
            <a:r>
              <a:t>AI and machine learning make IoT systems more intelligent and predictive.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7320-FE72-4BC3-3883-F213149F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Timeline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C40299-1BC4-C17A-FD75-394B470C1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6461"/>
            <a:ext cx="8274294" cy="42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9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Timeline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1982 – Connected vending machine</a:t>
            </a:r>
          </a:p>
          <a:p>
            <a:pPr>
              <a:spcAft>
                <a:spcPts val="1200"/>
              </a:spcAft>
              <a:defRPr sz="2400"/>
            </a:pPr>
            <a:r>
              <a:t>1990 – Internet-controlled toaster</a:t>
            </a:r>
          </a:p>
          <a:p>
            <a:pPr>
              <a:spcAft>
                <a:spcPts val="1200"/>
              </a:spcAft>
              <a:defRPr sz="2400"/>
            </a:pPr>
            <a:r>
              <a:t>1999 – 'Internet of Things' term coined</a:t>
            </a:r>
          </a:p>
          <a:p>
            <a:pPr>
              <a:spcAft>
                <a:spcPts val="1200"/>
              </a:spcAft>
              <a:defRPr sz="2400"/>
            </a:pPr>
            <a:r>
              <a:t>2000s – Sensors, RFID, wireless networks and cloud computing</a:t>
            </a:r>
          </a:p>
          <a:p>
            <a:pPr>
              <a:spcAft>
                <a:spcPts val="1200"/>
              </a:spcAft>
              <a:defRPr sz="2400"/>
            </a:pPr>
            <a:r>
              <a:t>2010s – Rapid adoption of smart devices</a:t>
            </a:r>
          </a:p>
          <a:p>
            <a:pPr>
              <a:spcAft>
                <a:spcPts val="1200"/>
              </a:spcAft>
              <a:defRPr sz="2400"/>
            </a:pPr>
            <a:r>
              <a:t>2020s – AI + 5G + Edge Computing +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IoT Used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Smart Homes – lighting, security, thermostats and appliances</a:t>
            </a:r>
          </a:p>
          <a:p>
            <a:pPr>
              <a:spcAft>
                <a:spcPts val="1200"/>
              </a:spcAft>
              <a:defRPr sz="2400"/>
            </a:pPr>
            <a:r>
              <a:t>Healthcare – remote monitoring and connected medical devices</a:t>
            </a:r>
          </a:p>
          <a:p>
            <a:pPr>
              <a:spcAft>
                <a:spcPts val="1200"/>
              </a:spcAft>
              <a:defRPr sz="2400"/>
            </a:pPr>
            <a:r>
              <a:t>Agriculture – soil, weather and crop monitoring</a:t>
            </a:r>
          </a:p>
          <a:p>
            <a:pPr>
              <a:spcAft>
                <a:spcPts val="1200"/>
              </a:spcAft>
              <a:defRPr sz="2400"/>
            </a:pPr>
            <a:r>
              <a:t>Manufacturing – predictive maintenance and automation</a:t>
            </a:r>
          </a:p>
          <a:p>
            <a:pPr>
              <a:spcAft>
                <a:spcPts val="1200"/>
              </a:spcAft>
              <a:defRPr sz="2400"/>
            </a:pPr>
            <a:r>
              <a:t>Transportation – connected vehicles and traffic management</a:t>
            </a:r>
          </a:p>
          <a:p>
            <a:pPr>
              <a:spcAft>
                <a:spcPts val="1200"/>
              </a:spcAft>
              <a:defRPr sz="2400"/>
            </a:pPr>
            <a:r>
              <a:t>Smart Cities – energy, waste, parking and public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IoT to Intelligent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Traditional IoT: Sense → Connect → Collect Data</a:t>
            </a:r>
          </a:p>
          <a:p>
            <a:pPr>
              <a:spcAft>
                <a:spcPts val="1200"/>
              </a:spcAft>
              <a:defRPr sz="2400"/>
            </a:pPr>
            <a:r>
              <a:t>Modern IoT: Sense → Connect → Analyze → Predict → Act</a:t>
            </a:r>
          </a:p>
          <a:p>
            <a:pPr>
              <a:spcAft>
                <a:spcPts val="1200"/>
              </a:spcAft>
              <a:defRPr sz="2400"/>
            </a:pPr>
            <a:r>
              <a:t>AI/ML helps IoT systems identify patterns and make decisions.</a:t>
            </a:r>
          </a:p>
          <a:p>
            <a:pPr>
              <a:spcAft>
                <a:spcPts val="1200"/>
              </a:spcAft>
              <a:defRPr sz="2400"/>
            </a:pPr>
            <a:r>
              <a:t>Edge computing reduces latency by processing data near the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t>IoT evolved from simple connected experiments into a global ecosystem of smart devices.</a:t>
            </a:r>
          </a:p>
          <a:p>
            <a:pPr>
              <a:spcAft>
                <a:spcPts val="1200"/>
              </a:spcAft>
              <a:defRPr sz="2400"/>
            </a:pPr>
            <a:r>
              <a:t>Its growth has been driven by sensors, wireless networks, cloud computing, smartphones, 5G, AI and edge computing.</a:t>
            </a:r>
          </a:p>
          <a:p>
            <a:pPr>
              <a:spcAft>
                <a:spcPts val="1200"/>
              </a:spcAft>
              <a:defRPr sz="2400"/>
            </a:pPr>
            <a:r>
              <a:t>The future of IoT is increasingly intelligent, autonomous and interconnected.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Internet of Things (IoT) –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736</Words>
  <Application>Microsoft Office PowerPoint</Application>
  <PresentationFormat>On-screen Show (4:3)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Internet of Things (IoT)</vt:lpstr>
      <vt:lpstr>What is IoT?</vt:lpstr>
      <vt:lpstr>1982 – First Internet-Connected Vending Machine</vt:lpstr>
      <vt:lpstr>1990 – Internet-Connected Toaster</vt:lpstr>
      <vt:lpstr>1999 – The Term 'Internet of Things'</vt:lpstr>
      <vt:lpstr>2000–2010 – Foundations of Modern IoT</vt:lpstr>
      <vt:lpstr>World Summit on the Information Society (WSIS), 2005</vt:lpstr>
      <vt:lpstr>2011–2015 – Rapid Expansion</vt:lpstr>
      <vt:lpstr>2016–Present – Modern IoT Era</vt:lpstr>
      <vt:lpstr>IOT Timeline</vt:lpstr>
      <vt:lpstr>IoT Timeline at a Glance</vt:lpstr>
      <vt:lpstr>Where is IoT Used Today?</vt:lpstr>
      <vt:lpstr>From IoT to Intelligent IoT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aditi bal</dc:creator>
  <cp:keywords/>
  <dc:description>generated using python-pptx</dc:description>
  <cp:lastModifiedBy>aditi bal</cp:lastModifiedBy>
  <cp:revision>2</cp:revision>
  <dcterms:created xsi:type="dcterms:W3CDTF">2013-01-27T09:14:16Z</dcterms:created>
  <dcterms:modified xsi:type="dcterms:W3CDTF">2026-08-09T14:40:36Z</dcterms:modified>
  <cp:category/>
</cp:coreProperties>
</file>